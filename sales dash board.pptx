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78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3818" autoAdjust="0"/>
  </p:normalViewPr>
  <p:slideViewPr>
    <p:cSldViewPr snapToGrid="0">
      <p:cViewPr varScale="1">
        <p:scale>
          <a:sx n="154" d="100"/>
          <a:sy n="154" d="100"/>
        </p:scale>
        <p:origin x="534" y="144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33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266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8B07-5A8B-12D3-48D5-B8315D13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B6700-05A0-7411-109E-A374569B6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8D759-B238-4D1C-A179-63DF885F6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31F17-191B-CFE4-28A8-DF229B949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854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4062684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909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4273-D1B2-B5DA-BF7E-9FF169DF6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EE723-48AC-C184-D51D-DB184D9E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217C-58BE-CEDC-FE42-FFECCA16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67DFB-4595-5610-E73D-EA112439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188B-8994-FE2D-E924-64F2FB5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92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92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85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10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229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70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7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E36FD2-5CF9-42B6-267C-75A9A8826A1C}"/>
              </a:ext>
            </a:extLst>
          </p:cNvPr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CF07-40A9-24A4-F336-0BDA8D93267D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66C649D9-DD8B-5B7D-F409-A3797AEF3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  <p:extLst>
      <p:ext uri="{BB962C8B-B14F-4D97-AF65-F5344CB8AC3E}">
        <p14:creationId xmlns:p14="http://schemas.microsoft.com/office/powerpoint/2010/main" val="347897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5" r:id="rId2"/>
    <p:sldLayoutId id="2147483666" r:id="rId3"/>
    <p:sldLayoutId id="2147483667" r:id="rId4"/>
    <p:sldLayoutId id="214748366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17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40A069D-B6C2-7B0A-6719-9C65A27E0952}"/>
              </a:ext>
            </a:extLst>
          </p:cNvPr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C78EFA-3B33-383D-31A6-F48EC0533950}"/>
              </a:ext>
            </a:extLst>
          </p:cNvPr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D7732-9B23-40F7-1FF7-FD50BDC193D8}"/>
              </a:ext>
            </a:extLst>
          </p:cNvPr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A2A85-6D5C-2987-0FF8-3AF240456D3B}"/>
              </a:ext>
            </a:extLst>
          </p:cNvPr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4D362339-2CD4-BEA9-8BCD-81A300A3C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837936-4230-3A98-A2A1-6E77E027B36D}"/>
              </a:ext>
            </a:extLst>
          </p:cNvPr>
          <p:cNvSpPr>
            <a:spLocks noGrp="1"/>
          </p:cNvSpPr>
          <p:nvPr/>
        </p:nvSpPr>
        <p:spPr>
          <a:xfrm>
            <a:off x="453870" y="963029"/>
            <a:ext cx="4932727" cy="250676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4500" b="1" dirty="0"/>
            </a:br>
            <a:r>
              <a:rPr lang="en-IN" sz="4500" b="1" dirty="0"/>
              <a:t>SUPERSTORE SALESPERFORMANCE </a:t>
            </a:r>
          </a:p>
          <a:p>
            <a:pPr algn="l"/>
            <a:r>
              <a:rPr lang="en-IN" sz="4500" b="1" dirty="0"/>
              <a:t>DASHBOARD</a:t>
            </a:r>
            <a:endParaRPr lang="en-US" sz="4500" b="1" kern="12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A663A0C-3931-F8E6-391C-2FF1FDBB09CD}"/>
              </a:ext>
            </a:extLst>
          </p:cNvPr>
          <p:cNvSpPr>
            <a:spLocks noGrp="1"/>
          </p:cNvSpPr>
          <p:nvPr/>
        </p:nvSpPr>
        <p:spPr>
          <a:xfrm>
            <a:off x="594127" y="3739889"/>
            <a:ext cx="4166512" cy="19155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PENDYALA </a:t>
            </a:r>
            <a:r>
              <a:rPr lang="en-US" sz="1600" b="1" cap="all" dirty="0" err="1"/>
              <a:t>uday</a:t>
            </a:r>
            <a:r>
              <a:rPr lang="en-US" sz="1600" b="1" cap="all" dirty="0"/>
              <a:t> </a:t>
            </a:r>
            <a:r>
              <a:rPr lang="en-US" sz="1600" b="1" cap="all" dirty="0" err="1"/>
              <a:t>kranth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</a:t>
            </a:r>
            <a:r>
              <a:rPr lang="en-US" sz="1600" b="1" cap="all" dirty="0" err="1"/>
              <a:t>A.v</a:t>
            </a:r>
            <a:r>
              <a:rPr lang="en-US" sz="1600" b="1" cap="all" dirty="0"/>
              <a:t> college of arts ,science and commerce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m.sc(data science)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</a:t>
            </a:r>
            <a:r>
              <a:rPr lang="en-US" sz="1600" b="1" dirty="0"/>
              <a:t>udaykranth01@gmail.com</a:t>
            </a:r>
            <a:endParaRPr lang="en-US" sz="1600" b="1" cap="al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209DDC-49E2-D091-59BD-0C4C94044B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1685" y="1005706"/>
            <a:ext cx="4592377" cy="464972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1033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0E59-694D-9DFE-4488-37D5F2F48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/>
                <a:cs typeface="Arial"/>
              </a:rPr>
              <a:t>OUTLINE: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4173D-62A9-AF06-B476-EEB82708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Problem Statement </a:t>
            </a:r>
            <a:r>
              <a:rPr lang="en-US" sz="2200">
                <a:latin typeface="Arial"/>
                <a:cs typeface="Arial"/>
              </a:rPr>
              <a:t>(Should not include solution)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Proposed System/Solution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System Development Approach </a:t>
            </a:r>
            <a:r>
              <a:rPr lang="en-US" sz="2200">
                <a:latin typeface="Arial"/>
                <a:cs typeface="Arial"/>
              </a:rPr>
              <a:t>(Technology Used) 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Algorithm &amp; Deployment  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Result (Output Image)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Conclusion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Future Scope</a:t>
            </a:r>
            <a:endParaRPr lang="en-US" sz="220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>
                <a:latin typeface="Arial"/>
                <a:cs typeface="Arial"/>
              </a:rPr>
              <a:t>References</a:t>
            </a:r>
            <a:endParaRPr lang="en-US" sz="2200">
              <a:latin typeface="Arial"/>
              <a:cs typeface="Arial"/>
            </a:endParaRPr>
          </a:p>
          <a:p>
            <a:endParaRPr lang="en-GB" sz="2200">
              <a:latin typeface="Aptos" panose="020B0004020202020204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7874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B35C-A00A-C6C7-8532-576758ED4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Problem Statement: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C97F-5AC9-F1CA-3CCC-090D5B139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/>
              <a:t>Retail businesses generate large volumes of sales data from different regions, product categories, and customer segments. Analyzing this data manually becomes difficult and time-consuming.</a:t>
            </a:r>
          </a:p>
          <a:p>
            <a:pPr marL="0" indent="0">
              <a:buNone/>
            </a:pPr>
            <a:r>
              <a:rPr lang="en-US" sz="2400" dirty="0"/>
              <a:t>Organizations need an efficient system to:</a:t>
            </a:r>
          </a:p>
          <a:p>
            <a:r>
              <a:rPr lang="en-US" sz="2400" dirty="0"/>
              <a:t>Monitor overall sales performance</a:t>
            </a:r>
          </a:p>
          <a:p>
            <a:r>
              <a:rPr lang="en-US" sz="2400" dirty="0"/>
              <a:t>Identify profitable and loss-making products</a:t>
            </a:r>
          </a:p>
          <a:p>
            <a:r>
              <a:rPr lang="en-US" sz="2400" dirty="0"/>
              <a:t>Analyze sales trends across months and regions</a:t>
            </a:r>
          </a:p>
          <a:p>
            <a:r>
              <a:rPr lang="en-US" sz="2400" dirty="0"/>
              <a:t>Understand customer segments and shipping preferences</a:t>
            </a:r>
          </a:p>
          <a:p>
            <a:r>
              <a:rPr lang="en-US" sz="2400" dirty="0"/>
              <a:t>Support data-driven business decision making</a:t>
            </a:r>
          </a:p>
          <a:p>
            <a:r>
              <a:rPr lang="en-US" sz="2400" dirty="0"/>
              <a:t>However, raw sales data in spreadsheets does not provide clear insights.</a:t>
            </a:r>
          </a:p>
          <a:p>
            <a:r>
              <a:rPr lang="en-US" sz="2400" dirty="0"/>
              <a:t>Therefore, a </a:t>
            </a:r>
            <a:r>
              <a:rPr lang="en-US" sz="2400" b="1" dirty="0"/>
              <a:t>data visualization dashboard is required to transform raw sales data into meaningful and interactive business insights.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29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7B4B1-584E-2479-D762-2265C7398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03250"/>
            <a:ext cx="9653191" cy="698484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Proposed Solution:</a:t>
            </a:r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186E1-31B3-53AB-4B21-8BB8280F1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D01169-3B86-3E89-B0B7-9B5121D43000}"/>
              </a:ext>
            </a:extLst>
          </p:cNvPr>
          <p:cNvSpPr txBox="1"/>
          <p:nvPr/>
        </p:nvSpPr>
        <p:spPr>
          <a:xfrm>
            <a:off x="140676" y="1146305"/>
            <a:ext cx="10316309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/>
              <a:t>To address the problem of analyzing large volumes of sales data, a </a:t>
            </a:r>
            <a:r>
              <a:rPr lang="en-US" sz="1400" b="1" dirty="0"/>
              <a:t>Power BI based Sales Performance Dashboard</a:t>
            </a:r>
            <a:r>
              <a:rPr lang="en-US" sz="1400" dirty="0"/>
              <a:t> is developed.</a:t>
            </a:r>
          </a:p>
          <a:p>
            <a:pPr>
              <a:buNone/>
            </a:pPr>
            <a:r>
              <a:rPr lang="en-US" sz="1400" dirty="0"/>
              <a:t>The proposed system provides an interactive data visualization platform that helps analyze and monitor sales performance effectively.</a:t>
            </a:r>
          </a:p>
          <a:p>
            <a:pPr>
              <a:buNone/>
            </a:pPr>
            <a:r>
              <a:rPr lang="en-US" sz="1400" dirty="0"/>
              <a:t>The solution includes the following components:</a:t>
            </a:r>
          </a:p>
          <a:p>
            <a:pPr>
              <a:buNone/>
            </a:pPr>
            <a:r>
              <a:rPr lang="en-US" sz="1400" b="1" dirty="0"/>
              <a:t>Data Collection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Import Superstore sales dataset from Excel.</a:t>
            </a:r>
          </a:p>
          <a:p>
            <a:pPr>
              <a:buNone/>
            </a:pPr>
            <a:r>
              <a:rPr lang="en-US" sz="1400" b="1" dirty="0"/>
              <a:t>Data Preprocessing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Clean and transform data using </a:t>
            </a:r>
            <a:r>
              <a:rPr lang="en-US" sz="1400" b="1" dirty="0"/>
              <a:t>Power Query</a:t>
            </a:r>
            <a:r>
              <a:rPr lang="en-US" sz="1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Handle missing or inconsistent values.</a:t>
            </a:r>
          </a:p>
          <a:p>
            <a:pPr>
              <a:buNone/>
            </a:pPr>
            <a:r>
              <a:rPr lang="en-US" sz="1400" b="1" dirty="0"/>
              <a:t>Data Analysis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Use Power BI to analyze sales, profit, quantity, and order information.</a:t>
            </a:r>
          </a:p>
          <a:p>
            <a:pPr>
              <a:buNone/>
            </a:pPr>
            <a:r>
              <a:rPr lang="en-US" sz="1400" b="1" dirty="0"/>
              <a:t>Dashboard Visualization</a:t>
            </a:r>
            <a:endParaRPr lang="en-US" sz="1400" dirty="0"/>
          </a:p>
          <a:p>
            <a:r>
              <a:rPr lang="en-US" sz="1400" dirty="0"/>
              <a:t>Create interactive visualizations such as: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Sales by Region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Sales by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Sales by Customer Segment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Monthly Sales Trend</a:t>
            </a:r>
          </a:p>
          <a:p>
            <a:pPr>
              <a:buNone/>
            </a:pPr>
            <a:r>
              <a:rPr lang="en-US" sz="1400" b="1" dirty="0"/>
              <a:t>Interactive Filters</a:t>
            </a:r>
            <a:endParaRPr lang="en-US" sz="1400" dirty="0"/>
          </a:p>
          <a:p>
            <a:r>
              <a:rPr lang="en-US" sz="1400" dirty="0"/>
              <a:t>Users can filter data by: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Quarter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Category</a:t>
            </a:r>
          </a:p>
          <a:p>
            <a:pPr>
              <a:buNone/>
            </a:pPr>
            <a:r>
              <a:rPr lang="en-US" sz="1400" dirty="0"/>
              <a:t>This dashboard helps businesses gain </a:t>
            </a:r>
            <a:r>
              <a:rPr lang="en-US" sz="1400" b="1" dirty="0"/>
              <a:t>clear insights and make data-driven decisions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4139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92D15-41B4-89C1-0EA3-03BC9FA1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99529"/>
            <a:ext cx="10515600" cy="621272"/>
          </a:xfrm>
        </p:spPr>
        <p:txBody>
          <a:bodyPr lIns="91440" tIns="45720" rIns="91440" bIns="45720" anchor="t">
            <a:normAutofit fontScale="90000"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7E8EE-7F26-D809-3523-C58876935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409" y="1430215"/>
            <a:ext cx="6356929" cy="4537331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>
              <a:buNone/>
            </a:pPr>
            <a:r>
              <a:rPr lang="en-IN" sz="1400" dirty="0"/>
              <a:t>This project follows a data visualization approach using Power BI to </a:t>
            </a:r>
            <a:r>
              <a:rPr lang="en-IN" sz="1400" dirty="0" err="1"/>
              <a:t>analyze</a:t>
            </a:r>
            <a:r>
              <a:rPr lang="en-IN" sz="1400" dirty="0"/>
              <a:t> the Superstore sales dataset and generate meaningful business insights.</a:t>
            </a:r>
          </a:p>
          <a:p>
            <a:pPr marL="0" indent="0">
              <a:buNone/>
            </a:pPr>
            <a:r>
              <a:rPr lang="en-IN" sz="1400" b="1" dirty="0"/>
              <a:t>System Requirements</a:t>
            </a:r>
            <a:endParaRPr lang="en-IN" sz="1400" dirty="0"/>
          </a:p>
          <a:p>
            <a:pPr marL="0" indent="0">
              <a:buNone/>
            </a:pPr>
            <a:r>
              <a:rPr lang="en-IN" sz="1400" b="1" dirty="0"/>
              <a:t>Hardware</a:t>
            </a:r>
            <a:endParaRPr lang="en-IN" sz="1400" dirty="0"/>
          </a:p>
          <a:p>
            <a:r>
              <a:rPr lang="en-IN" sz="1400" dirty="0"/>
              <a:t>Computer/Laptop</a:t>
            </a:r>
          </a:p>
          <a:p>
            <a:r>
              <a:rPr lang="en-IN" sz="1400" dirty="0"/>
              <a:t>Minimum 8 GB RAM</a:t>
            </a:r>
          </a:p>
          <a:p>
            <a:pPr marL="0" indent="0">
              <a:buNone/>
            </a:pPr>
            <a:r>
              <a:rPr lang="en-IN" sz="1400" b="1" dirty="0"/>
              <a:t>Software</a:t>
            </a:r>
            <a:endParaRPr lang="en-IN" sz="1400" dirty="0"/>
          </a:p>
          <a:p>
            <a:r>
              <a:rPr lang="en-IN" sz="1400" dirty="0"/>
              <a:t>Microsoft Power BI Desktop</a:t>
            </a:r>
          </a:p>
          <a:p>
            <a:r>
              <a:rPr lang="en-IN" sz="1400" dirty="0"/>
              <a:t>Microsoft Excel</a:t>
            </a:r>
          </a:p>
          <a:p>
            <a:pPr marL="0" indent="0">
              <a:buNone/>
            </a:pPr>
            <a:r>
              <a:rPr lang="en-IN" sz="1400" b="1" dirty="0"/>
              <a:t>Technologies Used</a:t>
            </a:r>
            <a:endParaRPr lang="en-IN" sz="1400" dirty="0"/>
          </a:p>
          <a:p>
            <a:r>
              <a:rPr lang="en-IN" sz="1400" dirty="0"/>
              <a:t>Power BI</a:t>
            </a:r>
          </a:p>
          <a:p>
            <a:r>
              <a:rPr lang="en-IN" sz="1400" dirty="0"/>
              <a:t>Power Query (Data Transformation)</a:t>
            </a:r>
          </a:p>
          <a:p>
            <a:r>
              <a:rPr lang="en-IN" sz="1400" dirty="0"/>
              <a:t>DAX – Data Analysis Expressions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7E9D15-2366-046E-0994-92E20F264DF5}"/>
              </a:ext>
            </a:extLst>
          </p:cNvPr>
          <p:cNvSpPr txBox="1"/>
          <p:nvPr/>
        </p:nvSpPr>
        <p:spPr>
          <a:xfrm>
            <a:off x="4720493" y="1949756"/>
            <a:ext cx="620541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1400" b="1" dirty="0"/>
              <a:t>Dataset Used</a:t>
            </a:r>
            <a:endParaRPr lang="en-IN" sz="1400" dirty="0"/>
          </a:p>
          <a:p>
            <a:pPr marL="0" indent="0">
              <a:buNone/>
            </a:pPr>
            <a:r>
              <a:rPr lang="en-IN" sz="1400" dirty="0"/>
              <a:t>Superstore Sales Dataset containing: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Order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Sales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Profit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Quantity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Region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Customer Segment</a:t>
            </a:r>
          </a:p>
          <a:p>
            <a:r>
              <a:rPr lang="en-IN" sz="1400" dirty="0"/>
              <a:t>This approach helps transform raw sales data into </a:t>
            </a:r>
            <a:r>
              <a:rPr lang="en-IN" sz="1400" b="1" dirty="0"/>
              <a:t>interactive dashboards for better analysis and decision making</a:t>
            </a:r>
            <a:r>
              <a:rPr lang="en-IN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01125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BEE6-616C-2711-86DB-C62E77D17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5"/>
            <a:ext cx="10515600" cy="767068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Algorithm &amp; Deployment:</a:t>
            </a:r>
            <a:endParaRPr 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DFFC98-4667-2661-FBCF-6AF79C9E967E}"/>
              </a:ext>
            </a:extLst>
          </p:cNvPr>
          <p:cNvSpPr txBox="1"/>
          <p:nvPr/>
        </p:nvSpPr>
        <p:spPr>
          <a:xfrm>
            <a:off x="242277" y="1246562"/>
            <a:ext cx="1119944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Data Input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Superstore sales dataset is imported into </a:t>
            </a:r>
            <a:r>
              <a:rPr lang="en-US" b="1" dirty="0"/>
              <a:t>Power BI</a:t>
            </a:r>
            <a:r>
              <a:rPr lang="en-US" dirty="0"/>
              <a:t> from an Excel file.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dataset contains information such as </a:t>
            </a:r>
            <a:r>
              <a:rPr lang="en-US" b="1" dirty="0"/>
              <a:t>Order ID, Sales, Profit, Quantity, Category, Region, and Customer Segment</a:t>
            </a:r>
            <a:r>
              <a:rPr lang="en-US" dirty="0"/>
              <a:t>.</a:t>
            </a:r>
          </a:p>
          <a:p>
            <a:pPr>
              <a:buNone/>
            </a:pPr>
            <a:r>
              <a:rPr lang="en-US" b="1" dirty="0"/>
              <a:t>Data Cleaning &amp; Transformation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preprocessing is performed using </a:t>
            </a:r>
            <a:r>
              <a:rPr lang="en-US" b="1" dirty="0"/>
              <a:t>Power Query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Missing values and inconsistencies are handled.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fields are formatted for analysis.</a:t>
            </a:r>
          </a:p>
          <a:p>
            <a:pPr>
              <a:buNone/>
            </a:pPr>
            <a:r>
              <a:rPr lang="en-US" b="1" dirty="0"/>
              <a:t>Data Modeling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Relationships between data fields are created.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Measures and calculated columns are defined using </a:t>
            </a:r>
            <a:r>
              <a:rPr lang="en-US" b="1" dirty="0"/>
              <a:t>DAX (Data Analysis Expressions)</a:t>
            </a:r>
            <a:r>
              <a:rPr lang="en-US" dirty="0"/>
              <a:t>.</a:t>
            </a:r>
          </a:p>
          <a:p>
            <a:pPr>
              <a:buNone/>
            </a:pPr>
            <a:r>
              <a:rPr lang="en-US" b="1" dirty="0"/>
              <a:t>Visualization Process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Interactive charts and graphs are created to analyze: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Sales performance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Profit trends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Regional distribution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Customer segments</a:t>
            </a:r>
          </a:p>
          <a:p>
            <a:pPr>
              <a:buNone/>
            </a:pPr>
            <a:r>
              <a:rPr lang="en-US" b="1" dirty="0"/>
              <a:t>Deployment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dashboard is published through </a:t>
            </a:r>
            <a:r>
              <a:rPr lang="en-US" b="1" dirty="0"/>
              <a:t>Power BI Service</a:t>
            </a:r>
            <a:r>
              <a:rPr lang="en-US" dirty="0"/>
              <a:t> for sharing and real-time access.</a:t>
            </a:r>
          </a:p>
        </p:txBody>
      </p:sp>
    </p:spTree>
    <p:extLst>
      <p:ext uri="{BB962C8B-B14F-4D97-AF65-F5344CB8AC3E}">
        <p14:creationId xmlns:p14="http://schemas.microsoft.com/office/powerpoint/2010/main" val="119908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756E-D4E1-5A9A-636A-7FA06EC3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21777"/>
            <a:ext cx="10515600" cy="600319"/>
          </a:xfrm>
        </p:spPr>
        <p:txBody>
          <a:bodyPr lIns="91440" tIns="45720" rIns="91440" bIns="45720" anchor="t">
            <a:normAutofit fontScale="90000"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Result: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02C9B-C4AF-D0DB-DE74-862D98120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137" y="1584103"/>
            <a:ext cx="6898909" cy="4251960"/>
          </a:xfrm>
        </p:spPr>
        <p:txBody>
          <a:bodyPr vert="horz" lIns="91440" tIns="45720" rIns="91440" bIns="45720" rtlCol="0">
            <a:normAutofit fontScale="55000" lnSpcReduction="20000"/>
          </a:bodyPr>
          <a:lstStyle/>
          <a:p>
            <a:pPr marL="0" indent="0">
              <a:buNone/>
            </a:pPr>
            <a:r>
              <a:rPr lang="en-US" sz="2400" dirty="0"/>
              <a:t>The Power BI dashboard successfully visualizes the Superstore sales dataset and provides meaningful insights into business performance.</a:t>
            </a:r>
          </a:p>
          <a:p>
            <a:pPr marL="0" indent="0">
              <a:buNone/>
            </a:pPr>
            <a:r>
              <a:rPr lang="en-US" sz="2400" dirty="0"/>
              <a:t>The dashboard displays key performance indicators such as:</a:t>
            </a:r>
          </a:p>
          <a:p>
            <a:r>
              <a:rPr lang="en-US" sz="2400" dirty="0"/>
              <a:t>Total Sales</a:t>
            </a:r>
          </a:p>
          <a:p>
            <a:r>
              <a:rPr lang="en-US" sz="2400" dirty="0"/>
              <a:t>Total Profit</a:t>
            </a:r>
          </a:p>
          <a:p>
            <a:r>
              <a:rPr lang="en-US" sz="2400" dirty="0"/>
              <a:t>Total Orders</a:t>
            </a:r>
          </a:p>
          <a:p>
            <a:r>
              <a:rPr lang="en-US" sz="2400" dirty="0"/>
              <a:t>Total Quantity Sold</a:t>
            </a:r>
          </a:p>
          <a:p>
            <a:pPr marL="0" indent="0">
              <a:buNone/>
            </a:pPr>
            <a:r>
              <a:rPr lang="en-US" sz="2400" dirty="0"/>
              <a:t>It also provides detailed analysis through visualizations such as:</a:t>
            </a:r>
          </a:p>
          <a:p>
            <a:r>
              <a:rPr lang="en-US" sz="2400" dirty="0"/>
              <a:t>Sales by Region</a:t>
            </a:r>
          </a:p>
          <a:p>
            <a:r>
              <a:rPr lang="en-US" sz="2400" dirty="0"/>
              <a:t>Monthly Sales Trend</a:t>
            </a:r>
          </a:p>
          <a:p>
            <a:r>
              <a:rPr lang="en-US" sz="2400" dirty="0"/>
              <a:t>Profit by Month</a:t>
            </a:r>
          </a:p>
          <a:p>
            <a:r>
              <a:rPr lang="en-US" sz="2400" dirty="0"/>
              <a:t>Sales by Category</a:t>
            </a:r>
          </a:p>
          <a:p>
            <a:r>
              <a:rPr lang="en-US" sz="2400" dirty="0"/>
              <a:t>Sales by Customer Segment</a:t>
            </a:r>
          </a:p>
          <a:p>
            <a:r>
              <a:rPr lang="en-US" sz="2400" dirty="0"/>
              <a:t>Shipping Mode Analysis</a:t>
            </a:r>
          </a:p>
          <a:p>
            <a:pPr marL="0" indent="0">
              <a:buNone/>
            </a:pPr>
            <a:r>
              <a:rPr lang="en-US" sz="2400" dirty="0"/>
              <a:t>The interactive filters allow users to analyze data based on </a:t>
            </a:r>
            <a:r>
              <a:rPr lang="en-US" sz="2400" b="1" dirty="0"/>
              <a:t>year, quarter, month, and category</a:t>
            </a:r>
            <a:r>
              <a:rPr lang="en-US" sz="2400" dirty="0"/>
              <a:t>, enabling better decision-making.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C9E6FC-0BB3-E6BD-E7CB-E7313B4CA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830" y="1782690"/>
            <a:ext cx="5165044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4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396BB-D4E8-514D-53F4-27AADA6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016057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Conclusion: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89DDB-698E-B624-5621-F9D79482F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589" y="162239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/>
              <a:t>The Power BI dashboard successfully analyzes the Superstore sales dataset and provides clear insights into business performance.</a:t>
            </a:r>
          </a:p>
          <a:p>
            <a:r>
              <a:rPr lang="en-US" sz="2400" dirty="0"/>
              <a:t>The dashboard highlights important metrics such as </a:t>
            </a:r>
            <a:r>
              <a:rPr lang="en-US" sz="2400" b="1" dirty="0"/>
              <a:t>total sales, profit, orders, and quantity sold</a:t>
            </a:r>
            <a:r>
              <a:rPr lang="en-US" sz="2400" dirty="0"/>
              <a:t>. It also visualizes sales distribution by </a:t>
            </a:r>
            <a:r>
              <a:rPr lang="en-US" sz="2400" b="1" dirty="0"/>
              <a:t>region, category, customer segment, and shipping mode</a:t>
            </a:r>
            <a:r>
              <a:rPr lang="en-US" sz="2400" dirty="0"/>
              <a:t>.</a:t>
            </a:r>
          </a:p>
          <a:p>
            <a:r>
              <a:rPr lang="en-US" sz="2400" dirty="0"/>
              <a:t>The interactive filters enable users to explore data across </a:t>
            </a:r>
            <a:r>
              <a:rPr lang="en-US" sz="2400" b="1" dirty="0"/>
              <a:t>different years, quarters, and months</a:t>
            </a:r>
            <a:r>
              <a:rPr lang="en-US" sz="2400" dirty="0"/>
              <a:t>, making the analysis more flexible and informative.</a:t>
            </a:r>
          </a:p>
          <a:p>
            <a:r>
              <a:rPr lang="en-US" sz="2400" dirty="0"/>
              <a:t>Overall, the dashboard helps businesses </a:t>
            </a:r>
            <a:r>
              <a:rPr lang="en-US" sz="2400" b="1" dirty="0"/>
              <a:t>understand sales trends, identify profitable areas, and support data-driven decision making.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45309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403C0-6D6C-CF0D-D01B-94F3DED1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0588"/>
            <a:ext cx="10515600" cy="902035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C79AB-5BF9-3911-CAE8-5E44B0DF2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/>
            </a:endParaRPr>
          </a:p>
          <a:p>
            <a:pPr marL="0" indent="0">
              <a:buNone/>
            </a:pPr>
            <a:r>
              <a:rPr lang="en-US" sz="2400" dirty="0"/>
              <a:t>The project can be further enhanced with additional features to improve data analysis and decision-making.</a:t>
            </a:r>
          </a:p>
          <a:p>
            <a:r>
              <a:rPr lang="en-US" sz="2400" dirty="0"/>
              <a:t>Integrate </a:t>
            </a:r>
            <a:r>
              <a:rPr lang="en-US" sz="2400" b="1" dirty="0"/>
              <a:t>real-time sales data</a:t>
            </a:r>
            <a:r>
              <a:rPr lang="en-US" sz="2400" dirty="0"/>
              <a:t> for live business monitoring</a:t>
            </a:r>
          </a:p>
          <a:p>
            <a:r>
              <a:rPr lang="en-US" sz="2400" dirty="0"/>
              <a:t>Add </a:t>
            </a:r>
            <a:r>
              <a:rPr lang="en-US" sz="2400" b="1" dirty="0"/>
              <a:t>predictive analytics using machine learning</a:t>
            </a:r>
            <a:r>
              <a:rPr lang="en-US" sz="2400" dirty="0"/>
              <a:t> to forecast future sales trends</a:t>
            </a:r>
          </a:p>
          <a:p>
            <a:r>
              <a:rPr lang="en-US" sz="2400" dirty="0"/>
              <a:t>Expand the dashboard with </a:t>
            </a:r>
            <a:r>
              <a:rPr lang="en-US" sz="2400" b="1" dirty="0"/>
              <a:t>customer behavior and product performance analysis</a:t>
            </a:r>
            <a:endParaRPr lang="en-US" sz="2400" dirty="0"/>
          </a:p>
          <a:p>
            <a:r>
              <a:rPr lang="en-US" sz="2400" dirty="0"/>
              <a:t>Deploy the dashboard on </a:t>
            </a:r>
            <a:r>
              <a:rPr lang="en-US" sz="2400" b="1" dirty="0"/>
              <a:t>Power BI Service or cloud platforms</a:t>
            </a:r>
            <a:r>
              <a:rPr lang="en-US" sz="2400" dirty="0"/>
              <a:t> for easy access and sharing</a:t>
            </a:r>
          </a:p>
          <a:p>
            <a:r>
              <a:rPr lang="en-US" sz="2400" dirty="0"/>
              <a:t>Include </a:t>
            </a:r>
            <a:r>
              <a:rPr lang="en-US" sz="2400" b="1" dirty="0"/>
              <a:t>advanced visualizations and automated reporting systems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improvements can help organizations gain </a:t>
            </a:r>
            <a:r>
              <a:rPr lang="en-US" sz="2400" b="1" dirty="0"/>
              <a:t>deeper insights and better strategic planning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744199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7BEC-26CE-96DB-DC10-B2897FA5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5"/>
            <a:ext cx="10515600" cy="839512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/>
                <a:cs typeface="Arial"/>
              </a:rPr>
              <a:t>References: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198D1-2392-A218-1A4C-10F40FCB8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804" y="1551125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The development of this project was supported by various learning resources and documentation. The primary reference used was the official </a:t>
            </a:r>
            <a:r>
              <a:rPr lang="en-US" sz="2400" b="1" dirty="0"/>
              <a:t>Microsoft Power BI Documentation and Microsoft Learn platform</a:t>
            </a:r>
            <a:r>
              <a:rPr lang="en-US" sz="2400" dirty="0"/>
              <a:t>, which provides detailed guidance on Power BI tools and features. The </a:t>
            </a:r>
            <a:r>
              <a:rPr lang="en-US" sz="2400" b="1" dirty="0"/>
              <a:t>Superstore Sales Dataset obtained from Kaggle</a:t>
            </a:r>
            <a:r>
              <a:rPr lang="en-US" sz="2400" dirty="0"/>
              <a:t> was used for performing the data analysis and visualization. Additional knowledge and best practices for data visualization were gathered from </a:t>
            </a:r>
            <a:r>
              <a:rPr lang="en-US" sz="2400" b="1" dirty="0"/>
              <a:t>Power BI tutorials available on the Microsoft website and Power BI community resources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r>
              <a:rPr lang="en-IN" sz="2200" b="1" dirty="0">
                <a:latin typeface="Franklin Gothic Book"/>
              </a:rPr>
              <a:t>GitHub Link</a:t>
            </a:r>
            <a:r>
              <a:rPr lang="en-IN" sz="2200" b="1">
                <a:latin typeface="Franklin Gothic Book"/>
              </a:rPr>
              <a:t>:</a:t>
            </a:r>
            <a:r>
              <a:rPr lang="en-IN" sz="2200" b="1">
                <a:solidFill>
                  <a:srgbClr val="0070C0"/>
                </a:solidFill>
                <a:latin typeface="Franklin Gothic Book"/>
              </a:rPr>
              <a:t> https://github.com/Uday2kranth/Superstore</a:t>
            </a:r>
            <a:endParaRPr lang="en-IN" sz="22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</p:txBody>
      </p:sp>
    </p:spTree>
    <p:extLst>
      <p:ext uri="{BB962C8B-B14F-4D97-AF65-F5344CB8AC3E}">
        <p14:creationId xmlns:p14="http://schemas.microsoft.com/office/powerpoint/2010/main" val="1691700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43E5-DB51-E32C-9252-0ED5EF28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E97B5AD-3B10-086C-32EF-8A2EAD5287C2}"/>
              </a:ext>
            </a:extLst>
          </p:cNvPr>
          <p:cNvSpPr txBox="1">
            <a:spLocks/>
          </p:cNvSpPr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buFont typeface="Arial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FC7433E-E155-E68D-4C00-FCB38967C6F9}"/>
              </a:ext>
            </a:extLst>
          </p:cNvPr>
          <p:cNvSpPr txBox="1">
            <a:spLocks/>
          </p:cNvSpPr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srgbClr val="002060"/>
                </a:solidFill>
                <a:latin typeface="Arial"/>
                <a:cs typeface="Arial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46020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905</Words>
  <Application>Microsoft Office PowerPoint</Application>
  <PresentationFormat>Widescreen</PresentationFormat>
  <Paragraphs>128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Pendyala Uday Kranth</cp:lastModifiedBy>
  <cp:revision>103</cp:revision>
  <dcterms:created xsi:type="dcterms:W3CDTF">2024-05-21T11:55:07Z</dcterms:created>
  <dcterms:modified xsi:type="dcterms:W3CDTF">2026-03-19T18:05:06Z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</Properties>
</file>