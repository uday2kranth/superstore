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453870" y="963029"/>
            <a:ext cx="4932727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4500" b="1" dirty="0"/>
            </a:br>
            <a:r>
              <a:rPr lang="en-IN" sz="4500" b="1" dirty="0"/>
              <a:t>SUPERSTORE SALESPERFORMANCE </a:t>
            </a:r>
          </a:p>
          <a:p>
            <a:pPr algn="l"/>
            <a:r>
              <a:rPr lang="en-IN" sz="4500" b="1" dirty="0"/>
              <a:t>DASHBOARD</a:t>
            </a:r>
            <a:endParaRPr lang="en-US" sz="45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PENDYALA </a:t>
            </a:r>
            <a:r>
              <a:rPr lang="en-US" sz="1600" b="1" cap="all" dirty="0" err="1"/>
              <a:t>uday</a:t>
            </a:r>
            <a:r>
              <a:rPr lang="en-US" sz="1600" b="1" cap="all" dirty="0"/>
              <a:t> </a:t>
            </a:r>
            <a:r>
              <a:rPr lang="en-US" sz="1600" b="1" cap="all" dirty="0" err="1"/>
              <a:t>kranth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 err="1"/>
              <a:t>A.v</a:t>
            </a:r>
            <a:r>
              <a:rPr lang="en-US" sz="1600" b="1" cap="all" dirty="0"/>
              <a:t> college of arts ,science and commerce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m.sc(data science)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</a:t>
            </a:r>
            <a:r>
              <a:rPr lang="en-US" sz="1600" b="1" dirty="0"/>
              <a:t>udaykranth01@gmail.com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209DDC-49E2-D091-59BD-0C4C94044B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685" y="1005706"/>
            <a:ext cx="4592377" cy="46497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Problem Statement </a:t>
            </a:r>
            <a:r>
              <a:rPr lang="en-US" sz="2200">
                <a:latin typeface="Arial"/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Proposed System/Solution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System Development Approach </a:t>
            </a:r>
            <a:r>
              <a:rPr lang="en-US" sz="220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Algorithm &amp; Deployment  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Result (Output Image)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Conclusion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Future Scope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References</a:t>
            </a:r>
            <a:endParaRPr lang="en-US" sz="2200">
              <a:latin typeface="Arial"/>
              <a:cs typeface="Arial"/>
            </a:endParaRPr>
          </a:p>
          <a:p>
            <a:endParaRPr lang="en-GB" sz="220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Retail businesses generate large volumes of sales data from different regions, product categories, and customer segments. Analyzing this data manually becomes difficult and time-consuming.</a:t>
            </a:r>
          </a:p>
          <a:p>
            <a:pPr marL="0" indent="0">
              <a:buNone/>
            </a:pPr>
            <a:r>
              <a:rPr lang="en-US" sz="2400" dirty="0"/>
              <a:t>Organizations need an efficient system to:</a:t>
            </a:r>
          </a:p>
          <a:p>
            <a:r>
              <a:rPr lang="en-US" sz="2400" dirty="0"/>
              <a:t>Monitor overall sales performance</a:t>
            </a:r>
          </a:p>
          <a:p>
            <a:r>
              <a:rPr lang="en-US" sz="2400" dirty="0"/>
              <a:t>Identify profitable and loss-making products</a:t>
            </a:r>
          </a:p>
          <a:p>
            <a:r>
              <a:rPr lang="en-US" sz="2400" dirty="0"/>
              <a:t>Analyze sales trends across months and regions</a:t>
            </a:r>
          </a:p>
          <a:p>
            <a:r>
              <a:rPr lang="en-US" sz="2400" dirty="0"/>
              <a:t>Understand customer segments and shipping preferences</a:t>
            </a:r>
          </a:p>
          <a:p>
            <a:r>
              <a:rPr lang="en-US" sz="2400" dirty="0"/>
              <a:t>Support data-driven business decision making</a:t>
            </a:r>
          </a:p>
          <a:p>
            <a:r>
              <a:rPr lang="en-US" sz="2400" dirty="0"/>
              <a:t>However, raw sales data in spreadsheets does not provide clear insights.</a:t>
            </a:r>
          </a:p>
          <a:p>
            <a:r>
              <a:rPr lang="en-US" sz="2400" dirty="0"/>
              <a:t>Therefore, a </a:t>
            </a:r>
            <a:r>
              <a:rPr lang="en-US" sz="2400" b="1" dirty="0"/>
              <a:t>data visualization dashboard is required to transform raw sales data into meaningful and interactive business insights.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3250"/>
            <a:ext cx="9653191" cy="698484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5186E1-31B3-53AB-4B21-8BB8280F1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01169-3B86-3E89-B0B7-9B5121D43000}"/>
              </a:ext>
            </a:extLst>
          </p:cNvPr>
          <p:cNvSpPr txBox="1"/>
          <p:nvPr/>
        </p:nvSpPr>
        <p:spPr>
          <a:xfrm>
            <a:off x="140676" y="1146305"/>
            <a:ext cx="1031630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To address the problem of analyzing large volumes of sales data, a </a:t>
            </a:r>
            <a:r>
              <a:rPr lang="en-US" sz="1400" b="1" dirty="0"/>
              <a:t>Power BI based Sales Performance Dashboard</a:t>
            </a:r>
            <a:r>
              <a:rPr lang="en-US" sz="1400" dirty="0"/>
              <a:t> is developed.</a:t>
            </a:r>
          </a:p>
          <a:p>
            <a:pPr>
              <a:buNone/>
            </a:pPr>
            <a:r>
              <a:rPr lang="en-US" sz="1400" dirty="0"/>
              <a:t>The proposed system provides an interactive data visualization platform that helps analyze and monitor sales performance effectively.</a:t>
            </a:r>
          </a:p>
          <a:p>
            <a:pPr>
              <a:buNone/>
            </a:pPr>
            <a:r>
              <a:rPr lang="en-US" sz="1400" dirty="0"/>
              <a:t>The solution includes the following components:</a:t>
            </a:r>
          </a:p>
          <a:p>
            <a:pPr>
              <a:buNone/>
            </a:pPr>
            <a:r>
              <a:rPr lang="en-US" sz="1400" b="1" dirty="0"/>
              <a:t>Data Collection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Import Superstore sales dataset from Excel.</a:t>
            </a:r>
          </a:p>
          <a:p>
            <a:pPr>
              <a:buNone/>
            </a:pPr>
            <a:r>
              <a:rPr lang="en-US" sz="1400" b="1" dirty="0"/>
              <a:t>Data Preprocessing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Clean and transform data using </a:t>
            </a:r>
            <a:r>
              <a:rPr lang="en-US" sz="1400" b="1" dirty="0"/>
              <a:t>Power Query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Handle missing or inconsistent values.</a:t>
            </a:r>
          </a:p>
          <a:p>
            <a:pPr>
              <a:buNone/>
            </a:pPr>
            <a:r>
              <a:rPr lang="en-US" sz="1400" b="1" dirty="0"/>
              <a:t>Data Analysis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Use Power BI to analyze sales, profit, quantity, and order information.</a:t>
            </a:r>
          </a:p>
          <a:p>
            <a:pPr>
              <a:buNone/>
            </a:pPr>
            <a:r>
              <a:rPr lang="en-US" sz="1400" b="1" dirty="0"/>
              <a:t>Dashboard Visualization</a:t>
            </a:r>
            <a:endParaRPr lang="en-US" sz="1400" dirty="0"/>
          </a:p>
          <a:p>
            <a:r>
              <a:rPr lang="en-US" sz="1400" dirty="0"/>
              <a:t>Create interactive visualizations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Sales by Region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Sales by 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Sales by Customer Segment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Monthly Sales Trend</a:t>
            </a:r>
          </a:p>
          <a:p>
            <a:pPr>
              <a:buNone/>
            </a:pPr>
            <a:r>
              <a:rPr lang="en-US" sz="1400" b="1" dirty="0"/>
              <a:t>Interactive Filters</a:t>
            </a:r>
            <a:endParaRPr lang="en-US" sz="1400" dirty="0"/>
          </a:p>
          <a:p>
            <a:r>
              <a:rPr lang="en-US" sz="1400" dirty="0"/>
              <a:t>Users can filter data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Quarter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Month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Category</a:t>
            </a:r>
          </a:p>
          <a:p>
            <a:pPr>
              <a:buNone/>
            </a:pPr>
            <a:r>
              <a:rPr lang="en-US" sz="1400" dirty="0"/>
              <a:t>This dashboard helps businesses gain </a:t>
            </a:r>
            <a:r>
              <a:rPr lang="en-US" sz="1400" b="1" dirty="0"/>
              <a:t>clear insights and make data-driven decisions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9"/>
            <a:ext cx="10515600" cy="621272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430215"/>
            <a:ext cx="6356929" cy="4537331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dirty="0"/>
              <a:t>This project follows a data visualization approach using Power BI to </a:t>
            </a:r>
            <a:r>
              <a:rPr lang="en-IN" sz="1400" dirty="0" err="1"/>
              <a:t>analyze</a:t>
            </a:r>
            <a:r>
              <a:rPr lang="en-IN" sz="1400" dirty="0"/>
              <a:t> the Superstore sales dataset and generate meaningful business insights.</a:t>
            </a:r>
          </a:p>
          <a:p>
            <a:pPr marL="0" indent="0">
              <a:buNone/>
            </a:pPr>
            <a:r>
              <a:rPr lang="en-IN" sz="1400" b="1" dirty="0"/>
              <a:t>System Requirements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Hardware</a:t>
            </a:r>
            <a:endParaRPr lang="en-IN" sz="1400" dirty="0"/>
          </a:p>
          <a:p>
            <a:r>
              <a:rPr lang="en-IN" sz="1400" dirty="0"/>
              <a:t>Computer/Laptop</a:t>
            </a:r>
          </a:p>
          <a:p>
            <a:r>
              <a:rPr lang="en-IN" sz="1400" dirty="0"/>
              <a:t>Minimum 8 GB RAM</a:t>
            </a:r>
          </a:p>
          <a:p>
            <a:pPr marL="0" indent="0">
              <a:buNone/>
            </a:pPr>
            <a:r>
              <a:rPr lang="en-IN" sz="1400" b="1" dirty="0"/>
              <a:t>Software</a:t>
            </a:r>
            <a:endParaRPr lang="en-IN" sz="1400" dirty="0"/>
          </a:p>
          <a:p>
            <a:r>
              <a:rPr lang="en-IN" sz="1400" dirty="0"/>
              <a:t>Microsoft Power BI Desktop</a:t>
            </a:r>
          </a:p>
          <a:p>
            <a:r>
              <a:rPr lang="en-IN" sz="1400" dirty="0"/>
              <a:t>Microsoft Excel</a:t>
            </a:r>
          </a:p>
          <a:p>
            <a:pPr marL="0" indent="0">
              <a:buNone/>
            </a:pPr>
            <a:r>
              <a:rPr lang="en-IN" sz="1400" b="1" dirty="0"/>
              <a:t>Technologies Used</a:t>
            </a:r>
            <a:endParaRPr lang="en-IN" sz="1400" dirty="0"/>
          </a:p>
          <a:p>
            <a:r>
              <a:rPr lang="en-IN" sz="1400" dirty="0"/>
              <a:t>Power BI</a:t>
            </a:r>
          </a:p>
          <a:p>
            <a:r>
              <a:rPr lang="en-IN" sz="1400" dirty="0"/>
              <a:t>Power Query (Data Transformation)</a:t>
            </a:r>
          </a:p>
          <a:p>
            <a:r>
              <a:rPr lang="en-IN" sz="1400" dirty="0"/>
              <a:t>DAX – Data Analysis Expressions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E9D15-2366-046E-0994-92E20F264DF5}"/>
              </a:ext>
            </a:extLst>
          </p:cNvPr>
          <p:cNvSpPr txBox="1"/>
          <p:nvPr/>
        </p:nvSpPr>
        <p:spPr>
          <a:xfrm>
            <a:off x="4720493" y="1949756"/>
            <a:ext cx="620541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400" b="1" dirty="0"/>
              <a:t>Dataset Used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Superstore Sales Dataset containing: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Order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Region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Customer Segment</a:t>
            </a:r>
          </a:p>
          <a:p>
            <a:r>
              <a:rPr lang="en-IN" sz="1400" dirty="0"/>
              <a:t>This approach helps transform raw sales data into </a:t>
            </a:r>
            <a:r>
              <a:rPr lang="en-IN" sz="1400" b="1" dirty="0"/>
              <a:t>interactive dashboards for better analysis and decision making</a:t>
            </a:r>
            <a:r>
              <a:rPr lang="en-IN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5"/>
            <a:ext cx="10515600" cy="767068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FFC98-4667-2661-FBCF-6AF79C9E967E}"/>
              </a:ext>
            </a:extLst>
          </p:cNvPr>
          <p:cNvSpPr txBox="1"/>
          <p:nvPr/>
        </p:nvSpPr>
        <p:spPr>
          <a:xfrm>
            <a:off x="242277" y="1246562"/>
            <a:ext cx="1119944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Input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Superstore sales dataset is imported into </a:t>
            </a:r>
            <a:r>
              <a:rPr lang="en-US" b="1" dirty="0"/>
              <a:t>Power BI</a:t>
            </a:r>
            <a:r>
              <a:rPr lang="en-US" dirty="0"/>
              <a:t> from an Excel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dataset contains information such as </a:t>
            </a:r>
            <a:r>
              <a:rPr lang="en-US" b="1" dirty="0"/>
              <a:t>Order ID, Sales, Profit, Quantity, Category, Region, and Customer Segment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Data Cleaning &amp; Transformation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preprocessing is performed using </a:t>
            </a:r>
            <a:r>
              <a:rPr lang="en-US" b="1" dirty="0"/>
              <a:t>Power Query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values and inconsistencies are handled.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fields are formatted for analysis.</a:t>
            </a:r>
          </a:p>
          <a:p>
            <a:pPr>
              <a:buNone/>
            </a:pPr>
            <a:r>
              <a:rPr lang="en-US" b="1" dirty="0"/>
              <a:t>Data Modeling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Relationships between data fields are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and calculated columns are defined using </a:t>
            </a:r>
            <a:r>
              <a:rPr lang="en-US" b="1" dirty="0"/>
              <a:t>DAX (Data Analysis Expressions)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Visualization Process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charts and graphs are created to analyze: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Profit trends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Regional 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segments</a:t>
            </a:r>
          </a:p>
          <a:p>
            <a:pPr>
              <a:buNone/>
            </a:pPr>
            <a:r>
              <a:rPr lang="en-US" b="1" dirty="0"/>
              <a:t>Deployment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dashboard is published through </a:t>
            </a:r>
            <a:r>
              <a:rPr lang="en-US" b="1" dirty="0"/>
              <a:t>Power BI Service</a:t>
            </a:r>
            <a:r>
              <a:rPr lang="en-US" dirty="0"/>
              <a:t> for sharing and real-time access.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1777"/>
            <a:ext cx="10515600" cy="600319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6898909" cy="4251960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/>
              <a:t>The Power BI dashboard successfully visualizes the Superstore sales dataset and provides meaningful insights into business performance.</a:t>
            </a:r>
          </a:p>
          <a:p>
            <a:pPr marL="0" indent="0">
              <a:buNone/>
            </a:pPr>
            <a:r>
              <a:rPr lang="en-US" sz="2400" dirty="0"/>
              <a:t>The dashboard displays key performance indicators such as:</a:t>
            </a:r>
          </a:p>
          <a:p>
            <a:r>
              <a:rPr lang="en-US" sz="2400" dirty="0"/>
              <a:t>Total Sales</a:t>
            </a:r>
          </a:p>
          <a:p>
            <a:r>
              <a:rPr lang="en-US" sz="2400" dirty="0"/>
              <a:t>Total Profit</a:t>
            </a:r>
          </a:p>
          <a:p>
            <a:r>
              <a:rPr lang="en-US" sz="2400" dirty="0"/>
              <a:t>Total Orders</a:t>
            </a:r>
          </a:p>
          <a:p>
            <a:r>
              <a:rPr lang="en-US" sz="2400" dirty="0"/>
              <a:t>Total Quantity Sold</a:t>
            </a:r>
          </a:p>
          <a:p>
            <a:pPr marL="0" indent="0">
              <a:buNone/>
            </a:pPr>
            <a:r>
              <a:rPr lang="en-US" sz="2400" dirty="0"/>
              <a:t>It also provides detailed analysis through visualizations such as:</a:t>
            </a:r>
          </a:p>
          <a:p>
            <a:r>
              <a:rPr lang="en-US" sz="2400" dirty="0"/>
              <a:t>Sales by Region</a:t>
            </a:r>
          </a:p>
          <a:p>
            <a:r>
              <a:rPr lang="en-US" sz="2400" dirty="0"/>
              <a:t>Monthly Sales Trend</a:t>
            </a:r>
          </a:p>
          <a:p>
            <a:r>
              <a:rPr lang="en-US" sz="2400" dirty="0"/>
              <a:t>Profit by Month</a:t>
            </a:r>
          </a:p>
          <a:p>
            <a:r>
              <a:rPr lang="en-US" sz="2400" dirty="0"/>
              <a:t>Sales by Category</a:t>
            </a:r>
          </a:p>
          <a:p>
            <a:r>
              <a:rPr lang="en-US" sz="2400" dirty="0"/>
              <a:t>Sales by Customer Segment</a:t>
            </a:r>
          </a:p>
          <a:p>
            <a:r>
              <a:rPr lang="en-US" sz="2400" dirty="0"/>
              <a:t>Shipping Mode Analysis</a:t>
            </a:r>
          </a:p>
          <a:p>
            <a:pPr marL="0" indent="0">
              <a:buNone/>
            </a:pPr>
            <a:r>
              <a:rPr lang="en-US" sz="2400" dirty="0"/>
              <a:t>The interactive filters allow users to analyze data based on </a:t>
            </a:r>
            <a:r>
              <a:rPr lang="en-US" sz="2400" b="1" dirty="0"/>
              <a:t>year, quarter, month, and category</a:t>
            </a:r>
            <a:r>
              <a:rPr lang="en-US" sz="2400" dirty="0"/>
              <a:t>, enabling better decision-making.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9E6FC-0BB3-E6BD-E7CB-E7313B4CA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30" y="1782690"/>
            <a:ext cx="516504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016057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The Power BI dashboard successfully analyzes the Superstore sales dataset and provides clear insights into business performance.</a:t>
            </a:r>
          </a:p>
          <a:p>
            <a:r>
              <a:rPr lang="en-US" sz="2400" dirty="0"/>
              <a:t>The dashboard highlights important metrics such as </a:t>
            </a:r>
            <a:r>
              <a:rPr lang="en-US" sz="2400" b="1" dirty="0"/>
              <a:t>total sales, profit, orders, and quantity sold</a:t>
            </a:r>
            <a:r>
              <a:rPr lang="en-US" sz="2400" dirty="0"/>
              <a:t>. It also visualizes sales distribution by </a:t>
            </a:r>
            <a:r>
              <a:rPr lang="en-US" sz="2400" b="1" dirty="0"/>
              <a:t>region, category, customer segment, and shipping mode</a:t>
            </a:r>
            <a:r>
              <a:rPr lang="en-US" sz="2400" dirty="0"/>
              <a:t>.</a:t>
            </a:r>
          </a:p>
          <a:p>
            <a:r>
              <a:rPr lang="en-US" sz="2400" dirty="0"/>
              <a:t>The interactive filters enable users to explore data across </a:t>
            </a:r>
            <a:r>
              <a:rPr lang="en-US" sz="2400" b="1" dirty="0"/>
              <a:t>different years, quarters, and months</a:t>
            </a:r>
            <a:r>
              <a:rPr lang="en-US" sz="2400" dirty="0"/>
              <a:t>, making the analysis more flexible and informative.</a:t>
            </a:r>
          </a:p>
          <a:p>
            <a:r>
              <a:rPr lang="en-US" sz="2400" dirty="0"/>
              <a:t>Overall, the dashboard helps businesses </a:t>
            </a:r>
            <a:r>
              <a:rPr lang="en-US" sz="2400" b="1" dirty="0"/>
              <a:t>understand sales trends, identify profitable areas, and support data-driven decision making.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588"/>
            <a:ext cx="10515600" cy="902035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indent="0">
              <a:buNone/>
            </a:pPr>
            <a:r>
              <a:rPr lang="en-US" sz="2400" dirty="0"/>
              <a:t>The project can be further enhanced with additional features to improve data analysis and decision-making.</a:t>
            </a:r>
          </a:p>
          <a:p>
            <a:r>
              <a:rPr lang="en-US" sz="2400" dirty="0"/>
              <a:t>Integrate </a:t>
            </a:r>
            <a:r>
              <a:rPr lang="en-US" sz="2400" b="1" dirty="0"/>
              <a:t>real-time sales data</a:t>
            </a:r>
            <a:r>
              <a:rPr lang="en-US" sz="2400" dirty="0"/>
              <a:t> for live business monitoring</a:t>
            </a:r>
          </a:p>
          <a:p>
            <a:r>
              <a:rPr lang="en-US" sz="2400" dirty="0"/>
              <a:t>Add </a:t>
            </a:r>
            <a:r>
              <a:rPr lang="en-US" sz="2400" b="1" dirty="0"/>
              <a:t>predictive analytics using machine learning</a:t>
            </a:r>
            <a:r>
              <a:rPr lang="en-US" sz="2400" dirty="0"/>
              <a:t> to forecast future sales trends</a:t>
            </a:r>
          </a:p>
          <a:p>
            <a:r>
              <a:rPr lang="en-US" sz="2400" dirty="0"/>
              <a:t>Expand the dashboard with </a:t>
            </a:r>
            <a:r>
              <a:rPr lang="en-US" sz="2400" b="1" dirty="0"/>
              <a:t>customer behavior and product performance analysis</a:t>
            </a:r>
            <a:endParaRPr lang="en-US" sz="2400" dirty="0"/>
          </a:p>
          <a:p>
            <a:r>
              <a:rPr lang="en-US" sz="2400" dirty="0"/>
              <a:t>Deploy the dashboard on </a:t>
            </a:r>
            <a:r>
              <a:rPr lang="en-US" sz="2400" b="1" dirty="0"/>
              <a:t>Power BI Service or cloud platforms</a:t>
            </a:r>
            <a:r>
              <a:rPr lang="en-US" sz="2400" dirty="0"/>
              <a:t> for easy access and sharing</a:t>
            </a:r>
          </a:p>
          <a:p>
            <a:r>
              <a:rPr lang="en-US" sz="2400" dirty="0"/>
              <a:t>Include </a:t>
            </a:r>
            <a:r>
              <a:rPr lang="en-US" sz="2400" b="1" dirty="0"/>
              <a:t>advanced visualizations and automated reporting systems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improvements can help organizations gain </a:t>
            </a:r>
            <a:r>
              <a:rPr lang="en-US" sz="2400" b="1" dirty="0"/>
              <a:t>deeper insights and better strategic planning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5"/>
            <a:ext cx="10515600" cy="839512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The development of this project was supported by various learning resources and documentation. The primary reference used was the official </a:t>
            </a:r>
            <a:r>
              <a:rPr lang="en-US" sz="2400" b="1" dirty="0"/>
              <a:t>Microsoft Power BI Documentation and Microsoft Learn platform</a:t>
            </a:r>
            <a:r>
              <a:rPr lang="en-US" sz="2400" dirty="0"/>
              <a:t>, which provides detailed guidance on Power BI tools and features. The </a:t>
            </a:r>
            <a:r>
              <a:rPr lang="en-US" sz="2400" b="1" dirty="0"/>
              <a:t>Superstore Sales Dataset obtained from Kaggle</a:t>
            </a:r>
            <a:r>
              <a:rPr lang="en-US" sz="2400" dirty="0"/>
              <a:t> was used for performing the data analysis and visualization. Additional knowledge and best practices for data visualization were gathered from </a:t>
            </a:r>
            <a:r>
              <a:rPr lang="en-US" sz="2400" b="1" dirty="0"/>
              <a:t>Power BI tutorials available on the Microsoft website and Power BI community resources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IN" sz="2200" b="1" dirty="0">
                <a:latin typeface="Franklin Gothic Book"/>
              </a:rPr>
              <a:t>GitHub Link:</a:t>
            </a:r>
            <a:r>
              <a:rPr lang="en-IN" sz="2200" b="1" dirty="0">
                <a:solidFill>
                  <a:srgbClr val="0070C0"/>
                </a:solidFill>
                <a:latin typeface="Franklin Gothic Book"/>
              </a:rPr>
              <a:t> 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896</Words>
  <Application>Microsoft Office PowerPoint</Application>
  <PresentationFormat>Widescreen</PresentationFormat>
  <Paragraphs>128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Pendyala Uday Kranth</cp:lastModifiedBy>
  <cp:revision>102</cp:revision>
  <dcterms:created xsi:type="dcterms:W3CDTF">2024-05-21T11:55:07Z</dcterms:created>
  <dcterms:modified xsi:type="dcterms:W3CDTF">2026-03-15T13:34:18Z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